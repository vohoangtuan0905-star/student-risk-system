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63" r:id="rId10"/>
    <p:sldId id="264" r:id="rId11"/>
    <p:sldId id="265" r:id="rId12"/>
    <p:sldId id="273" r:id="rId13"/>
    <p:sldId id="267" r:id="rId14"/>
    <p:sldId id="268" r:id="rId15"/>
    <p:sldId id="269" r:id="rId16"/>
    <p:sldId id="270" r:id="rId17"/>
    <p:sldId id="271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234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ln w="15875">
            <a:solidFill>
              <a:srgbClr val="1C729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ln w="15875">
            <a:solidFill>
              <a:srgbClr val="5FA8B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5120640"/>
            <a:ext cx="2286000" cy="2286000"/>
          </a:xfrm>
          <a:prstGeom prst="ellipse">
            <a:avLst/>
          </a:prstGeom>
          <a:ln w="15875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640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CÔNG NGHỆ SÀI GÒN  •  KHOA CÔNG NGHỆ THÔNG TIN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9A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LUẬN VĂN TỐT NGHIỆP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Tìm hiểu một số thuật toán phân loại </a:t>
            </a: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liệu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Ứng dụng trong website quản lý thông tin và hỗ trợ dự đoán tỉ lệ bỏ học của sinh viên</a:t>
            </a:r>
            <a:endParaRPr lang="en-US" sz="3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hướng dẫn: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Nguyễn Trần Phúc Thịnh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hiện: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Võ Hoàng Tuấn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TP. HỒ CHÍ MINH — 2026</a:t>
            </a:r>
            <a:endParaRPr lang="en-US" sz="1200" dirty="0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· GIỚI THIỆU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Đặt vấn đề: khoảng trống trong cảnh báo học vụ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68680" y="3017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tối đa tỷ lệ thôi học theo chuẩn Bộ GD&amp;ĐT — nhiều trường khó đáp ứng</a:t>
            </a:r>
            <a:endParaRPr lang="en-US" sz="1300" dirty="0"/>
          </a:p>
        </p:txBody>
      </p:sp>
      <p:sp>
        <p:nvSpPr>
          <p:cNvPr id="30" name="Text 30"/>
          <p:cNvSpPr/>
          <p:nvPr/>
        </p:nvSpPr>
        <p:spPr>
          <a:xfrm>
            <a:off x="868680" y="380390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Thông tư 01/2024/TT-BGDĐT · Tiêu chí 5.2, Bộ GD&amp;ĐT</a:t>
            </a:r>
            <a:endParaRPr lang="en-US" sz="850" i="1" dirty="0"/>
          </a:p>
        </p:txBody>
      </p:sp>
      <p:sp>
        <p:nvSpPr>
          <p:cNvPr id="7" name="Shape 5"/>
          <p:cNvSpPr/>
          <p:nvPr/>
        </p:nvSpPr>
        <p:spPr>
          <a:xfrm>
            <a:off x="1188720" y="4160520"/>
            <a:ext cx="20574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43891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9A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 lệ có xu hướng cao hơn ở khối ngành Kỹ thuật – CNTT và Khoa học cơ bản, nơi khối lượng kiến thức lớn và yêu cầu đầu ra khắt khe.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4340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cảnh báo hiện nay chỉ dựa vào GPA — và điều đó bộc lộ 4 hạn chế: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420624" cy="420624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4340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23113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Chậm trễ trong phát hiện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37760" y="253288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chỉ đưa ra sau khi học kỳ đã kết thúc — sinh viên mất cơ hội can thiệp kịp thời.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317296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434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311810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Phiến diện, thiếu toàn diện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37760" y="341985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xét điểm số, bỏ qua nợ học phí, số buổi vắng, hoàn cảnh cá nhân.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43400" y="4059936"/>
            <a:ext cx="420624" cy="420624"/>
          </a:xfrm>
          <a:prstGeom prst="ellipse">
            <a:avLst/>
          </a:prstGeom>
          <a:solidFill>
            <a:srgbClr val="E8A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4340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4005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khả năng dự báo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37760" y="430682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phản ánh kết quả quá khứ, không dự đoán được xu hướng tương lai.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4946904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43400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48920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quản lý quy mô lớn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937760" y="519379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thể tư vấn thủ công cho hàng chục nghìn sinh viên cùng lúc.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343400" y="590702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Động lực: ứng dụng Machine Learning để phân tích dữ liệu học tập và dự báo sớm nguy cơ bỏ học, giúp nhà trường chủ động tư vấn kịp thời.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01" name="Shape ghost"/>
          <p:cNvSpPr/>
          <p:nvPr/>
        </p:nvSpPr>
        <p:spPr>
          <a:xfrm>
            <a:off x="4343400" y="2231136"/>
            <a:ext cx="7178040" cy="80467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" name="Shape ghost"/>
          <p:cNvSpPr/>
          <p:nvPr/>
        </p:nvSpPr>
        <p:spPr>
          <a:xfrm>
            <a:off x="4343400" y="3118104"/>
            <a:ext cx="7178040" cy="80467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3" name="Shape ghost"/>
          <p:cNvSpPr/>
          <p:nvPr/>
        </p:nvSpPr>
        <p:spPr>
          <a:xfrm>
            <a:off x="4343400" y="4005072"/>
            <a:ext cx="7178040" cy="80467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4" name="Shape ghost"/>
          <p:cNvSpPr/>
          <p:nvPr/>
        </p:nvSpPr>
        <p:spPr>
          <a:xfrm>
            <a:off x="4343400" y="4892040"/>
            <a:ext cx="7178040" cy="80467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· GIỚI THIỆU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&amp; phạm vi thực hiện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37744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hiểu thuật toán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926080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lý thuyết, nguyên lý, ưu/nhược điểm của Logistic Regression, Random Forest, SVM, XGBoost.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419856" y="169164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84448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84448" y="237744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&amp; lựa chọn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84448" y="2926080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4 thuật toán trên cùng bộ dữ liệu bằng Accuracy, F1, ROC-AUC và đặc biệt False Negative Rate.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291072" y="169164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55664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55664" y="237744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hệ thống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55664" y="2926080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quản lý sinh viên tích hợp module AI dự đoán rủi ro bỏ học, quản lý khoa/lớp/học kỳ/giảng viên.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9162288" y="169164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2688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26880" y="237744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hoá &amp; Retrain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26880" y="2926080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xử lý tự động từ import Excel → dự đoán → hiển thị; cơ chế huấn luyện lại và quản lý version mô hình.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DỮ LIỆU THỰC NGHIỆM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2395728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21.218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48640" y="544068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huấn luyện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(4.424 Kaggle + 16.794 mô phỏng)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19856" y="4754880"/>
            <a:ext cx="2395728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19856" y="484632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2.799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3419856" y="544068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mô phỏng, 150 lớp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91072" y="4754880"/>
            <a:ext cx="2395728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91072" y="484632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291072" y="544068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chính + khoa mở rộng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162288" y="4754880"/>
            <a:ext cx="2395728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62288" y="484632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16.794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162288" y="544068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ghi kết quả học tập theo kỳ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· PHƯƠNG PHÁP THỰC HIỆN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hệ thống &amp; công nghệ sử dụng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039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 19 + Vite 8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85800" y="27249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SPA, Axios, Recharts,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(SheetJS)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19202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0" y="2039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 5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57600" y="27249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API, JWT,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Multer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1920240"/>
            <a:ext cx="242316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20391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629400" y="27249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bảng nghiệp vụ,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mục tối ưu tra cứu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89720" y="1920240"/>
            <a:ext cx="2423160" cy="1371600"/>
          </a:xfrm>
          <a:prstGeom prst="roundRect">
            <a:avLst>
              <a:gd name="adj" fmla="val 6667"/>
            </a:avLst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26880" y="20391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2688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3.11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326880" y="27249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Pandas,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Joblib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2331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17920" y="2331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915400" y="2362775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gọi Python qua child_process.spawn — trao đổi dữ liệu JSON theo chuẩn stdin/stdout, không cần dịch vụ trung gian.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CÔNG NGHỆ CHÍNH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6424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nghệ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 19 + Vite 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Giao diện SPA, build nhanh với HMR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Express.js 5 + JWT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RESTful API, xác thực &amp; phân quyền theo vai trò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8.0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bảng nghiệp vụ, index trên cột tra cứu thường xuyên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ML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+ scikit-learn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Huấn luyện &amp; suy luận mô hình 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· PHÂN TÍCH NGHIỆP VỤ HỆ THỐNG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quan nghiệp vụ hệ thống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432645"/>
          </a:xfrm>
          <a:prstGeom prst="roundRect">
            <a:avLst>
              <a:gd name="adj" fmla="val 165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work/func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09928"/>
            <a:ext cx="3611880" cy="39297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712805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2-4 · Sơ đồ chức năng tổng quát của hệ thống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5394960" cy="4362191"/>
          </a:xfrm>
          <a:prstGeom prst="roundRect">
            <a:avLst>
              <a:gd name="adj" fmla="val 167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work/usecase_adm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420" y="1709928"/>
            <a:ext cx="3794760" cy="38592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9320" y="5642351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2-5 · Sơ đồ Use Case của Admin (Quản trị viên)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48640" y="6035040"/>
            <a:ext cx="1083564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77240" y="603504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&amp; Dự đoán rủi ro là lõi trọng tâm của đề tài — phần tiếp theo đi sâu vào cơ sở lý thuyết và thuật toán Machine Learning đứng sau mô hình này.</a:t>
            </a:r>
            <a:endParaRPr lang="en-US" sz="1030" dirty="0"/>
          </a:p>
        </p:txBody>
      </p:sp>
      <p:sp>
        <p:nvSpPr>
          <p:cNvPr id="12" name="Text 8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functio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eyebrow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· PHÂN TÍCH NGHIỆP VỤ HỆ THỐNG</a:t>
            </a:r>
            <a:endParaRPr lang="en-US" sz="1200" dirty="0"/>
          </a:p>
        </p:txBody>
      </p:sp>
      <p:sp>
        <p:nvSpPr>
          <p:cNvPr id="3" name="Text title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kern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tiết chức năng theo từng nhóm</a:t>
            </a:r>
            <a:endParaRPr lang="en-US" sz="2800" dirty="0"/>
          </a:p>
        </p:txBody>
      </p:sp>
      <p:sp>
        <p:nvSpPr>
          <p:cNvPr id="4" name="Text intro"/>
          <p:cNvSpPr/>
          <p:nvPr/>
        </p:nvSpPr>
        <p:spPr>
          <a:xfrm>
            <a:off x="548640" y="1481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nhóm chức năng trong sơ đồ tổng quan được triển khai với các nghiệp vụ cụ thể sau:</a:t>
            </a:r>
            <a:endParaRPr lang="en-US" sz="1150" dirty="0"/>
          </a:p>
        </p:txBody>
      </p:sp>
      <p:sp>
        <p:nvSpPr>
          <p:cNvPr id="5" name="Shape card"/>
          <p:cNvSpPr/>
          <p:nvPr/>
        </p:nvSpPr>
        <p:spPr>
          <a:xfrm>
            <a:off x="548640" y="1847088"/>
            <a:ext cx="5394960" cy="1828800"/>
          </a:xfrm>
          <a:prstGeom prst="roundRect">
            <a:avLst>
              <a:gd name="adj" fmla="val 32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accentbar"/>
          <p:cNvSpPr/>
          <p:nvPr/>
        </p:nvSpPr>
        <p:spPr>
          <a:xfrm>
            <a:off x="548640" y="1847088"/>
            <a:ext cx="54864" cy="1828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modname"/>
          <p:cNvSpPr/>
          <p:nvPr/>
        </p:nvSpPr>
        <p:spPr>
          <a:xfrm>
            <a:off x="804672" y="1984248"/>
            <a:ext cx="50365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lý Sinh viên</a:t>
            </a:r>
            <a:endParaRPr lang="en-US" sz="1300" dirty="0"/>
          </a:p>
        </p:txBody>
      </p:sp>
      <p:sp>
        <p:nvSpPr>
          <p:cNvPr id="8" name="Shape dot"/>
          <p:cNvSpPr/>
          <p:nvPr/>
        </p:nvSpPr>
        <p:spPr>
          <a:xfrm>
            <a:off x="804672" y="2441448"/>
            <a:ext cx="64008" cy="6400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bullet"/>
          <p:cNvSpPr/>
          <p:nvPr/>
        </p:nvSpPr>
        <p:spPr>
          <a:xfrm>
            <a:off x="1005840" y="2377440"/>
            <a:ext cx="47841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/ Sửa / Xóa, tìm kiếm và lọc danh sách theo mức rủi ro</a:t>
            </a:r>
            <a:endParaRPr lang="en-US" sz="950" dirty="0"/>
          </a:p>
        </p:txBody>
      </p:sp>
      <p:sp>
        <p:nvSpPr>
          <p:cNvPr id="10" name="Shape dot"/>
          <p:cNvSpPr/>
          <p:nvPr/>
        </p:nvSpPr>
        <p:spPr>
          <a:xfrm>
            <a:off x="804672" y="2839212"/>
            <a:ext cx="64008" cy="6400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bullet"/>
          <p:cNvSpPr/>
          <p:nvPr/>
        </p:nvSpPr>
        <p:spPr>
          <a:xfrm>
            <a:off x="1005840" y="2775204"/>
            <a:ext cx="47841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danh sách và kết quả học tập từ Excel</a:t>
            </a:r>
            <a:endParaRPr lang="en-US" sz="950" dirty="0"/>
          </a:p>
        </p:txBody>
      </p:sp>
      <p:sp>
        <p:nvSpPr>
          <p:cNvPr id="12" name="Shape dot"/>
          <p:cNvSpPr/>
          <p:nvPr/>
        </p:nvSpPr>
        <p:spPr>
          <a:xfrm>
            <a:off x="804672" y="3236976"/>
            <a:ext cx="64008" cy="6400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bullet"/>
          <p:cNvSpPr/>
          <p:nvPr/>
        </p:nvSpPr>
        <p:spPr>
          <a:xfrm>
            <a:off x="1005840" y="3172968"/>
            <a:ext cx="47841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chi tiết và lịch sử học tập theo từng học kỳ</a:t>
            </a:r>
            <a:endParaRPr lang="en-US" sz="950" dirty="0"/>
          </a:p>
        </p:txBody>
      </p:sp>
      <p:sp>
        <p:nvSpPr>
          <p:cNvPr id="14" name="Shape card"/>
          <p:cNvSpPr/>
          <p:nvPr/>
        </p:nvSpPr>
        <p:spPr>
          <a:xfrm>
            <a:off x="6245352" y="1847088"/>
            <a:ext cx="5394960" cy="1828800"/>
          </a:xfrm>
          <a:prstGeom prst="roundRect">
            <a:avLst>
              <a:gd name="adj" fmla="val 32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accentbar"/>
          <p:cNvSpPr/>
          <p:nvPr/>
        </p:nvSpPr>
        <p:spPr>
          <a:xfrm>
            <a:off x="6245352" y="1847088"/>
            <a:ext cx="54864" cy="1828800"/>
          </a:xfrm>
          <a:prstGeom prst="rect">
            <a:avLst/>
          </a:prstGeom>
          <a:solidFill>
            <a:srgbClr val="E8A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modname"/>
          <p:cNvSpPr/>
          <p:nvPr/>
        </p:nvSpPr>
        <p:spPr>
          <a:xfrm>
            <a:off x="6501384" y="1984248"/>
            <a:ext cx="50365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lý Đào tạo</a:t>
            </a:r>
            <a:endParaRPr lang="en-US" sz="1300" dirty="0"/>
          </a:p>
        </p:txBody>
      </p:sp>
      <p:sp>
        <p:nvSpPr>
          <p:cNvPr id="17" name="Shape dot"/>
          <p:cNvSpPr/>
          <p:nvPr/>
        </p:nvSpPr>
        <p:spPr>
          <a:xfrm>
            <a:off x="6501384" y="2441448"/>
            <a:ext cx="64008" cy="6400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bullet"/>
          <p:cNvSpPr/>
          <p:nvPr/>
        </p:nvSpPr>
        <p:spPr>
          <a:xfrm>
            <a:off x="6702552" y="2377440"/>
            <a:ext cx="47841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Khoa; Lớp có gán Giảng viên chủ nhiệm</a:t>
            </a:r>
            <a:endParaRPr lang="en-US" sz="950" dirty="0"/>
          </a:p>
        </p:txBody>
      </p:sp>
      <p:sp>
        <p:nvSpPr>
          <p:cNvPr id="19" name="Shape dot"/>
          <p:cNvSpPr/>
          <p:nvPr/>
        </p:nvSpPr>
        <p:spPr>
          <a:xfrm>
            <a:off x="6501384" y="2839212"/>
            <a:ext cx="64008" cy="6400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bullet"/>
          <p:cNvSpPr/>
          <p:nvPr/>
        </p:nvSpPr>
        <p:spPr>
          <a:xfrm>
            <a:off x="6702552" y="2775204"/>
            <a:ext cx="47841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Học kỳ (đóng / mở) và Giảng viên</a:t>
            </a:r>
            <a:endParaRPr lang="en-US" sz="950" dirty="0"/>
          </a:p>
        </p:txBody>
      </p:sp>
      <p:sp>
        <p:nvSpPr>
          <p:cNvPr id="21" name="Shape dot"/>
          <p:cNvSpPr/>
          <p:nvPr/>
        </p:nvSpPr>
        <p:spPr>
          <a:xfrm>
            <a:off x="6501384" y="3236976"/>
            <a:ext cx="64008" cy="6400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bullet"/>
          <p:cNvSpPr/>
          <p:nvPr/>
        </p:nvSpPr>
        <p:spPr>
          <a:xfrm>
            <a:off x="6702552" y="3172968"/>
            <a:ext cx="47841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Excel hàng loạt cho từng danh mục</a:t>
            </a:r>
            <a:endParaRPr lang="en-US" sz="950" dirty="0"/>
          </a:p>
        </p:txBody>
      </p:sp>
      <p:sp>
        <p:nvSpPr>
          <p:cNvPr id="23" name="Shape card"/>
          <p:cNvSpPr/>
          <p:nvPr/>
        </p:nvSpPr>
        <p:spPr>
          <a:xfrm>
            <a:off x="548640" y="3803904"/>
            <a:ext cx="5394960" cy="1828800"/>
          </a:xfrm>
          <a:prstGeom prst="roundRect">
            <a:avLst>
              <a:gd name="adj" fmla="val 32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modname"/>
          <p:cNvSpPr/>
          <p:nvPr/>
        </p:nvSpPr>
        <p:spPr>
          <a:xfrm>
            <a:off x="804672" y="3941064"/>
            <a:ext cx="50365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dirty="0">
                <a:solidFill>
                  <a:srgbClr val="E8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Dự đoán rủi ro  ★  TRỌNG TÂM</a:t>
            </a:r>
            <a:endParaRPr lang="en-US" sz="1300" dirty="0"/>
          </a:p>
        </p:txBody>
      </p:sp>
      <p:sp>
        <p:nvSpPr>
          <p:cNvPr id="25" name="Shape dot"/>
          <p:cNvSpPr/>
          <p:nvPr/>
        </p:nvSpPr>
        <p:spPr>
          <a:xfrm>
            <a:off x="804672" y="4398264"/>
            <a:ext cx="64008" cy="64008"/>
          </a:xfrm>
          <a:prstGeom prst="ellipse">
            <a:avLst/>
          </a:prstGeom>
          <a:solidFill>
            <a:srgbClr val="E8A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bullet"/>
          <p:cNvSpPr/>
          <p:nvPr/>
        </p:nvSpPr>
        <p:spPr>
          <a:xfrm>
            <a:off x="1005840" y="4334256"/>
            <a:ext cx="47841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đơn lẻ theo sinh viên/học kỳ, hoặc hàng loạt (Batch Predict All)</a:t>
            </a:r>
            <a:endParaRPr lang="en-US" sz="950" dirty="0"/>
          </a:p>
        </p:txBody>
      </p:sp>
      <p:sp>
        <p:nvSpPr>
          <p:cNvPr id="27" name="Shape dot"/>
          <p:cNvSpPr/>
          <p:nvPr/>
        </p:nvSpPr>
        <p:spPr>
          <a:xfrm>
            <a:off x="804672" y="4796028"/>
            <a:ext cx="64008" cy="64008"/>
          </a:xfrm>
          <a:prstGeom prst="ellipse">
            <a:avLst/>
          </a:prstGeom>
          <a:solidFill>
            <a:srgbClr val="E8A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bullet"/>
          <p:cNvSpPr/>
          <p:nvPr/>
        </p:nvSpPr>
        <p:spPr>
          <a:xfrm>
            <a:off x="1005840" y="4732020"/>
            <a:ext cx="47841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xấp xỉ khi thiếu thuộc tính, kèm xếp hạng Feature Importance</a:t>
            </a:r>
            <a:endParaRPr lang="en-US" sz="950" dirty="0"/>
          </a:p>
        </p:txBody>
      </p:sp>
      <p:sp>
        <p:nvSpPr>
          <p:cNvPr id="29" name="Shape dot"/>
          <p:cNvSpPr/>
          <p:nvPr/>
        </p:nvSpPr>
        <p:spPr>
          <a:xfrm>
            <a:off x="804672" y="5193792"/>
            <a:ext cx="64008" cy="64008"/>
          </a:xfrm>
          <a:prstGeom prst="ellipse">
            <a:avLst/>
          </a:prstGeom>
          <a:solidFill>
            <a:srgbClr val="E8A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bullet"/>
          <p:cNvSpPr/>
          <p:nvPr/>
        </p:nvSpPr>
        <p:spPr>
          <a:xfrm>
            <a:off x="1005840" y="5129784"/>
            <a:ext cx="47841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mô hình, version hoá và theo dõi metrics theo thời gian</a:t>
            </a:r>
            <a:endParaRPr lang="en-US" sz="950" dirty="0"/>
          </a:p>
        </p:txBody>
      </p:sp>
      <p:sp>
        <p:nvSpPr>
          <p:cNvPr id="31" name="Shape card"/>
          <p:cNvSpPr/>
          <p:nvPr/>
        </p:nvSpPr>
        <p:spPr>
          <a:xfrm>
            <a:off x="6245352" y="3803904"/>
            <a:ext cx="5394960" cy="1828800"/>
          </a:xfrm>
          <a:prstGeom prst="roundRect">
            <a:avLst>
              <a:gd name="adj" fmla="val 32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accentbar"/>
          <p:cNvSpPr/>
          <p:nvPr/>
        </p:nvSpPr>
        <p:spPr>
          <a:xfrm>
            <a:off x="6245352" y="3803904"/>
            <a:ext cx="54864" cy="1828800"/>
          </a:xfrm>
          <a:prstGeom prst="rect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modname"/>
          <p:cNvSpPr/>
          <p:nvPr/>
        </p:nvSpPr>
        <p:spPr>
          <a:xfrm>
            <a:off x="6501384" y="3941064"/>
            <a:ext cx="50365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trị hệ thống</a:t>
            </a:r>
            <a:endParaRPr lang="en-US" sz="1300" dirty="0"/>
          </a:p>
        </p:txBody>
      </p:sp>
      <p:sp>
        <p:nvSpPr>
          <p:cNvPr id="34" name="Shape dot"/>
          <p:cNvSpPr/>
          <p:nvPr/>
        </p:nvSpPr>
        <p:spPr>
          <a:xfrm>
            <a:off x="6501384" y="4398264"/>
            <a:ext cx="64008" cy="6400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bullet"/>
          <p:cNvSpPr/>
          <p:nvPr/>
        </p:nvSpPr>
        <p:spPr>
          <a:xfrm>
            <a:off x="6702552" y="4334256"/>
            <a:ext cx="47841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JWT, phân quyền theo vai trò (Admin / Teacher)</a:t>
            </a:r>
            <a:endParaRPr lang="en-US" sz="950" dirty="0"/>
          </a:p>
        </p:txBody>
      </p:sp>
      <p:sp>
        <p:nvSpPr>
          <p:cNvPr id="36" name="Shape dot"/>
          <p:cNvSpPr/>
          <p:nvPr/>
        </p:nvSpPr>
        <p:spPr>
          <a:xfrm>
            <a:off x="6501384" y="4796028"/>
            <a:ext cx="64008" cy="6400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bullet"/>
          <p:cNvSpPr/>
          <p:nvPr/>
        </p:nvSpPr>
        <p:spPr>
          <a:xfrm>
            <a:off x="6702552" y="4732020"/>
            <a:ext cx="47841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mật khẩu, khôi phục mật khẩu qua email</a:t>
            </a:r>
            <a:endParaRPr lang="en-US" sz="950" dirty="0"/>
          </a:p>
        </p:txBody>
      </p:sp>
      <p:sp>
        <p:nvSpPr>
          <p:cNvPr id="38" name="Shape dot"/>
          <p:cNvSpPr/>
          <p:nvPr/>
        </p:nvSpPr>
        <p:spPr>
          <a:xfrm>
            <a:off x="6501384" y="5193792"/>
            <a:ext cx="64008" cy="6400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bullet"/>
          <p:cNvSpPr/>
          <p:nvPr/>
        </p:nvSpPr>
        <p:spPr>
          <a:xfrm>
            <a:off x="6702552" y="5129784"/>
            <a:ext cx="47841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người dùng và nhật ký thao tác</a:t>
            </a:r>
            <a:endParaRPr lang="en-US" sz="950" dirty="0"/>
          </a:p>
        </p:txBody>
      </p:sp>
      <p:sp>
        <p:nvSpPr>
          <p:cNvPr id="40" name="Shape note"/>
          <p:cNvSpPr/>
          <p:nvPr/>
        </p:nvSpPr>
        <p:spPr>
          <a:xfrm>
            <a:off x="548640" y="5742432"/>
            <a:ext cx="11091672" cy="402336"/>
          </a:xfrm>
          <a:prstGeom prst="roundRect">
            <a:avLst>
              <a:gd name="adj" fmla="val 32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note"/>
          <p:cNvSpPr/>
          <p:nvPr/>
        </p:nvSpPr>
        <p:spPr>
          <a:xfrm>
            <a:off x="777240" y="5742432"/>
            <a:ext cx="10652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&amp; Dự đoán rủi ro là nhóm chức năng lõi — chiếm phần lớn nội dung kỹ thuật ở các phần tiếp theo.</a:t>
            </a:r>
            <a:endParaRPr lang="en-US" sz="1000" dirty="0"/>
          </a:p>
        </p:txBody>
      </p:sp>
      <p:sp>
        <p:nvSpPr>
          <p:cNvPr id="42" name="Text footer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3" name="Text page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1000" dirty="0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· CƠ SỞ LÝ THUYẾT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 phân loại &amp; quy trình xây dựng mô hình ML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TOÁN: HỌC CÓ GIÁM SÁT — PHÂN LOẠI RỦI RO BỎ HỌC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3134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đặc trưng sinh viên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GPA, số môn rớt, nợ học phí,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bổng, mức cảnh báo…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96596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0" y="2313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= 1 / (1 + e⁻ᶻ)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suất rủi ro ∈ (0,1)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0" y="19659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0" y="2313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mức rủi ro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2651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· Warning · Danger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ngưỡng xác suất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94760" y="2331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18120" y="2331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XÂY DỰNG MÔ HÌNH — 6 BƯỚC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3977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3CE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8368" y="4507992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&amp;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 dữ liệu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2286000" y="4343400"/>
            <a:ext cx="260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427732" y="38862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37460" y="3977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3CE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537460" y="4507992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train/test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70/30, Stratified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165092" y="4343400"/>
            <a:ext cx="260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06824" y="38862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16552" y="3977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416552" y="4507992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044184" y="4343400"/>
            <a:ext cx="260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85916" y="38862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95644" y="3977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3CE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295644" y="4507992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hiệu năng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tập test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7923276" y="4343400"/>
            <a:ext cx="260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65008" y="38862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174736" y="3977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3CE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174736" y="4507992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chỉnh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siêu tham số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9802368" y="4343400"/>
            <a:ext cx="260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944100" y="38862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053828" y="3977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3CE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0053828" y="4507992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hệ thống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mức rủi ro đầu ra:  Safe (&lt;40%)  ·  Warning (40–70%)  ·  Danger (≥70%)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tỉ lệ bỏ học • STU</a:t>
            </a:r>
            <a:endParaRPr lang="en-US" sz="1000" dirty="0"/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· PHÂN TÍCH DỮ LIỆU (EDA)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Khám phá dữ liệu trước khi huấn luyện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BỐ MỨC RỦI RO (n = 2.799)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work/risk_d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21408"/>
            <a:ext cx="5029200" cy="2999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QUAN GIỮA CÁC ĐẶC TRƯNG CHÍNH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09360" y="1993392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work/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21408"/>
            <a:ext cx="4480560" cy="29992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548640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77240" y="53675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mất cân bằng lớp: </a:t>
            </a: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65,8% Safe · 22,2% Warning · 12,0% Danger → cần Stratified K-Fold khi chia tập và cân nhắc class_weight khi huấn luyện.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587044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77240" y="57515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quan mạnh với rủi ro bỏ học: </a:t>
            </a: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cảnh báo (0,81) và Số môn rớt (0,78) tương quan cao nhất với nhãn rủi ro; GPA tương quan nghịch (−0,74).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· CƠ SỞ LÝ THUYẾT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Bốn thuật toán phân loại được khảo sát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647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</a:t>
            </a:r>
            <a:endParaRPr lang="en-US" sz="15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22677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Tuyến tính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7647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</a:t>
            </a:r>
            <a:endParaRPr lang="en-US" sz="15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474720" y="22677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(Bagging)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17647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263640" y="22677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52560" y="17647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052560" y="22677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(Boosting)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11064240" cy="28803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Khả năng giải thích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Rất cao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Tốc độ huấn luyện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Rất nhanh (~2s)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 (~12s)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 (~10s)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Chậm (~18s)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Xử lý phi tuyến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(qua kernel)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siêu tham số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Nhiều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Kích thước mô hình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Rất nhỏ (~3KB)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Lớn (~50MB)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 (~10MB)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Lớn (~100MB)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nổi bật về khả năng giải thích và tốc độ — hai yếu tố quan trọng cho một hệ thống cảnh báo thời gian thực.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· CƠ SỞ LÝ THUYẾT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 sâu Logistic Regression — thuật toán được chọn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SIGMOID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σ(z) = 1 / (1 + e⁻ᶻ)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5786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z = w₁x₁ + w₂x₂ + … + wₙxₙ + b — ánh xạ tổ hợp tuyến tính của đặc trưng về xác suất trong (0,1).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3200400"/>
            <a:ext cx="4480560" cy="0"/>
          </a:xfrm>
          <a:prstGeom prst="line">
            <a:avLst/>
          </a:prstGeom>
          <a:noFill/>
          <a:ln w="12700">
            <a:solidFill>
              <a:srgbClr val="234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MẤT MÁT (LOG LOSS)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L(y, ŷ) = −[y·log(ŷ) + (1−y)·log(1−ŷ)]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77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bằng Gradient Descent / L-BFGS (scikit-learn), cập nhật trọng số ngược hướng đạo hàm đến khi hội tụ.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4526280"/>
            <a:ext cx="4480560" cy="0"/>
          </a:xfrm>
          <a:prstGeom prst="line">
            <a:avLst/>
          </a:prstGeom>
          <a:noFill/>
          <a:ln w="12700">
            <a:solidFill>
              <a:srgbClr val="234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HOÁ L2 (RIDGE)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4937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J(w) = L(y, ŷ) + λ·Σwᵢ²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chọn qua cross-validation, hạn chế overfitting, cân bằng độ khớp và khả năng tổng quát hoá.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0" y="1783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CHỌN LOGISTIC REGRESSION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21488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20299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giải thích cao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3042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số hồi quy → tính Feature Importance, giúp giảng viên hiểu nguyên nhân rủi ro.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286207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2743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Ước lượng xác suất chuẩn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3017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về % rủi ro rõ ràng (vd. 75% → Danger) thay vì chỉ nhãn phân loại.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357530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3456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suất &amp; độ nhẹ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37307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nhỏ, suy luận rất nhanh — phù hợp ứng dụng web thời gian thực.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42885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ĐẶC TRƯNG ĐẦU VÀO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4626864"/>
            <a:ext cx="618134" cy="347472"/>
          </a:xfrm>
          <a:prstGeom prst="roundRect">
            <a:avLst>
              <a:gd name="adj" fmla="val 50000"/>
            </a:avLst>
          </a:prstGeom>
          <a:solidFill>
            <a:srgbClr val="E8F1F5"/>
          </a:solidFill>
          <a:ln w="9525">
            <a:solidFill>
              <a:srgbClr val="C7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0" y="4626864"/>
            <a:ext cx="6181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71462" y="4626864"/>
            <a:ext cx="1483157" cy="347472"/>
          </a:xfrm>
          <a:prstGeom prst="roundRect">
            <a:avLst>
              <a:gd name="adj" fmla="val 50000"/>
            </a:avLst>
          </a:prstGeom>
          <a:solidFill>
            <a:srgbClr val="E8F1F5"/>
          </a:solidFill>
          <a:ln w="9525">
            <a:solidFill>
              <a:srgbClr val="C7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71462" y="4626864"/>
            <a:ext cx="1483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age_at_enrollment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64347" y="4626864"/>
            <a:ext cx="382219" cy="347472"/>
          </a:xfrm>
          <a:prstGeom prst="roundRect">
            <a:avLst>
              <a:gd name="adj" fmla="val 50000"/>
            </a:avLst>
          </a:prstGeom>
          <a:solidFill>
            <a:srgbClr val="E8F1F5"/>
          </a:solidFill>
          <a:ln w="9525">
            <a:solidFill>
              <a:srgbClr val="C7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64347" y="4626864"/>
            <a:ext cx="3822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756294" y="4626864"/>
            <a:ext cx="1089965" cy="347472"/>
          </a:xfrm>
          <a:prstGeom prst="roundRect">
            <a:avLst>
              <a:gd name="adj" fmla="val 50000"/>
            </a:avLst>
          </a:prstGeom>
          <a:solidFill>
            <a:srgbClr val="E8F1F5"/>
          </a:solidFill>
          <a:ln w="9525">
            <a:solidFill>
              <a:srgbClr val="C7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756294" y="4626864"/>
            <a:ext cx="108996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tuition_debt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955987" y="4626864"/>
            <a:ext cx="1011326" cy="347472"/>
          </a:xfrm>
          <a:prstGeom prst="roundRect">
            <a:avLst>
              <a:gd name="adj" fmla="val 50000"/>
            </a:avLst>
          </a:prstGeom>
          <a:solidFill>
            <a:srgbClr val="E8F1F5"/>
          </a:solidFill>
          <a:ln w="9525">
            <a:solidFill>
              <a:srgbClr val="C7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955987" y="4626864"/>
            <a:ext cx="10113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scholarship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0" y="5084064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E8F1F5"/>
          </a:solidFill>
          <a:ln w="9525">
            <a:solidFill>
              <a:srgbClr val="C7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0" y="50840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failed_subjects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79208" y="5084064"/>
            <a:ext cx="1404518" cy="347472"/>
          </a:xfrm>
          <a:prstGeom prst="roundRect">
            <a:avLst>
              <a:gd name="adj" fmla="val 50000"/>
            </a:avLst>
          </a:prstGeom>
          <a:solidFill>
            <a:srgbClr val="E8F1F5"/>
          </a:solidFill>
          <a:ln w="9525">
            <a:solidFill>
              <a:srgbClr val="C7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379208" y="5084064"/>
            <a:ext cx="14045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credits_enrolled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893454" y="5084064"/>
            <a:ext cx="1247242" cy="347472"/>
          </a:xfrm>
          <a:prstGeom prst="roundRect">
            <a:avLst>
              <a:gd name="adj" fmla="val 50000"/>
            </a:avLst>
          </a:prstGeom>
          <a:solidFill>
            <a:srgbClr val="E8F1F5"/>
          </a:solidFill>
          <a:ln w="9525">
            <a:solidFill>
              <a:srgbClr val="C7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893454" y="5084064"/>
            <a:ext cx="12472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credits_passed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250424" y="5084064"/>
            <a:ext cx="1168603" cy="347472"/>
          </a:xfrm>
          <a:prstGeom prst="roundRect">
            <a:avLst>
              <a:gd name="adj" fmla="val 50000"/>
            </a:avLst>
          </a:prstGeom>
          <a:solidFill>
            <a:srgbClr val="E8F1F5"/>
          </a:solidFill>
          <a:ln w="9525">
            <a:solidFill>
              <a:srgbClr val="C7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250424" y="5084064"/>
            <a:ext cx="11686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warning_level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tỉ lệ bỏ học • STU</a:t>
            </a:r>
            <a:endParaRPr lang="en-US" sz="1000" dirty="0"/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THIẾT KẾ HỆ THỐNG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dữ liệu phục vụ mô hình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155680" cy="2383201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work/e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10881360" cy="19260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782233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3-1 · Mô hình dữ liệu mức ý niệm (ERD) — 7 bảng nghiệp vụ chính</a:t>
            </a:r>
            <a:endParaRPr lang="en-US" sz="950" dirty="0"/>
          </a:p>
        </p:txBody>
      </p:sp>
      <p:sp>
        <p:nvSpPr>
          <p:cNvPr id="101" name="Shape 100"/>
          <p:cNvSpPr/>
          <p:nvPr/>
        </p:nvSpPr>
        <p:spPr>
          <a:xfrm>
            <a:off x="548640" y="4160520"/>
            <a:ext cx="3483864" cy="132588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1"/>
          <p:cNvSpPr/>
          <p:nvPr/>
        </p:nvSpPr>
        <p:spPr>
          <a:xfrm>
            <a:off x="731520" y="428853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</a:t>
            </a:r>
            <a:endParaRPr lang="en-US" sz="1050" dirty="0"/>
          </a:p>
        </p:txBody>
      </p:sp>
      <p:sp>
        <p:nvSpPr>
          <p:cNvPr id="103" name="Text 102"/>
          <p:cNvSpPr/>
          <p:nvPr/>
        </p:nvSpPr>
        <p:spPr>
          <a:xfrm>
            <a:off x="731520" y="454456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bảng chuẩn hoá</a:t>
            </a:r>
            <a:endParaRPr lang="en-US" sz="1500" dirty="0"/>
          </a:p>
        </p:txBody>
      </p:sp>
      <p:sp>
        <p:nvSpPr>
          <p:cNvPr id="104" name="Text 103"/>
          <p:cNvSpPr/>
          <p:nvPr/>
        </p:nvSpPr>
        <p:spPr>
          <a:xfrm>
            <a:off x="731520" y="4928616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STUDENT_ACADEMIC_RECORDS, cập nhật mỗi học kỳ</a:t>
            </a:r>
            <a:endParaRPr lang="en-US" sz="950" dirty="0"/>
          </a:p>
        </p:txBody>
      </p:sp>
      <p:sp>
        <p:nvSpPr>
          <p:cNvPr id="105" name="Text 104"/>
          <p:cNvSpPr/>
          <p:nvPr/>
        </p:nvSpPr>
        <p:spPr>
          <a:xfrm>
            <a:off x="4032504" y="45720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6" name="Shape 105"/>
          <p:cNvSpPr/>
          <p:nvPr/>
        </p:nvSpPr>
        <p:spPr>
          <a:xfrm>
            <a:off x="4352544" y="4160520"/>
            <a:ext cx="3483864" cy="132588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106"/>
          <p:cNvSpPr/>
          <p:nvPr/>
        </p:nvSpPr>
        <p:spPr>
          <a:xfrm>
            <a:off x="4535424" y="428853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 ĐẶC TRƯNG</a:t>
            </a:r>
            <a:endParaRPr lang="en-US" sz="1050" dirty="0"/>
          </a:p>
        </p:txBody>
      </p:sp>
      <p:sp>
        <p:nvSpPr>
          <p:cNvPr id="108" name="Text 107"/>
          <p:cNvSpPr/>
          <p:nvPr/>
        </p:nvSpPr>
        <p:spPr>
          <a:xfrm>
            <a:off x="4535424" y="454456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đặc trưng / học kỳ</a:t>
            </a:r>
            <a:endParaRPr lang="en-US" sz="1500" dirty="0"/>
          </a:p>
        </p:txBody>
      </p:sp>
      <p:sp>
        <p:nvSpPr>
          <p:cNvPr id="109" name="Text 108"/>
          <p:cNvSpPr/>
          <p:nvPr/>
        </p:nvSpPr>
        <p:spPr>
          <a:xfrm>
            <a:off x="4535424" y="4928616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GPA, nợ học phí, số môn rớt, mức cảnh báo…</a:t>
            </a:r>
            <a:endParaRPr lang="en-US" sz="950" dirty="0"/>
          </a:p>
        </p:txBody>
      </p:sp>
      <p:sp>
        <p:nvSpPr>
          <p:cNvPr id="110" name="Text 109"/>
          <p:cNvSpPr/>
          <p:nvPr/>
        </p:nvSpPr>
        <p:spPr>
          <a:xfrm>
            <a:off x="7836408" y="45720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1" name="Shape 110"/>
          <p:cNvSpPr/>
          <p:nvPr/>
        </p:nvSpPr>
        <p:spPr>
          <a:xfrm>
            <a:off x="8156448" y="4160520"/>
            <a:ext cx="3483864" cy="1325880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11"/>
          <p:cNvSpPr/>
          <p:nvPr/>
        </p:nvSpPr>
        <p:spPr>
          <a:xfrm>
            <a:off x="8339328" y="428853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AI  ★</a:t>
            </a:r>
            <a:endParaRPr lang="en-US" sz="1050" dirty="0"/>
          </a:p>
        </p:txBody>
      </p:sp>
      <p:sp>
        <p:nvSpPr>
          <p:cNvPr id="113" name="Text 112"/>
          <p:cNvSpPr/>
          <p:nvPr/>
        </p:nvSpPr>
        <p:spPr>
          <a:xfrm>
            <a:off x="8339328" y="454456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14" name="Text 113"/>
          <p:cNvSpPr/>
          <p:nvPr/>
        </p:nvSpPr>
        <p:spPr>
          <a:xfrm>
            <a:off x="8339328" y="4928616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3 mức rủi ro: Safe · Warning · Danger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Thiết kế này đảm bảo dữ liệu luôn đầy đủ, mới nhất để mô hình AI dự đoán ngay khi học kỳ kết thúc.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ransition spd="med">
    <p:cover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evaluation metho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eyebrow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· KẾT QUẢ THỰC NGHIỆM</a:t>
            </a:r>
            <a:endParaRPr lang="en-US" sz="1200" dirty="0"/>
          </a:p>
        </p:txBody>
      </p:sp>
      <p:sp>
        <p:nvSpPr>
          <p:cNvPr id="3" name="Text title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kern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pháp đánh giá &amp; xử lý mất cân bằng dữ liệu</a:t>
            </a:r>
            <a:endParaRPr lang="en-US" sz="2500" dirty="0"/>
          </a:p>
        </p:txBody>
      </p:sp>
      <p:sp>
        <p:nvSpPr>
          <p:cNvPr id="4" name="Text L label"/>
          <p:cNvSpPr/>
          <p:nvPr/>
        </p:nvSpPr>
        <p:spPr>
          <a:xfrm>
            <a:off x="548640" y="164592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DỮ LIỆU &amp; CÁCH CHIA</a:t>
            </a:r>
            <a:endParaRPr lang="en-US" sz="1050" dirty="0"/>
          </a:p>
        </p:txBody>
      </p:sp>
      <p:sp>
        <p:nvSpPr>
          <p:cNvPr id="5" name="Shape L box"/>
          <p:cNvSpPr/>
          <p:nvPr/>
        </p:nvSpPr>
        <p:spPr>
          <a:xfrm>
            <a:off x="548640" y="1938528"/>
            <a:ext cx="5349240" cy="1188720"/>
          </a:xfrm>
          <a:prstGeom prst="roundRect">
            <a:avLst>
              <a:gd name="adj" fmla="val 35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L1"/>
          <p:cNvSpPr/>
          <p:nvPr/>
        </p:nvSpPr>
        <p:spPr>
          <a:xfrm>
            <a:off x="768096" y="1938528"/>
            <a:ext cx="4910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21.218 mẫu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4.424 mẫu Kaggle + 16.794 mẫu mô phỏng theo phân phối thực tế</a:t>
            </a:r>
            <a:endParaRPr lang="en-US" sz="900" dirty="0"/>
          </a:p>
        </p:txBody>
      </p:sp>
      <p:sp>
        <p:nvSpPr>
          <p:cNvPr id="7" name="Shape divline"/>
          <p:cNvSpPr/>
          <p:nvPr/>
        </p:nvSpPr>
        <p:spPr>
          <a:xfrm>
            <a:off x="768096" y="2560320"/>
            <a:ext cx="4910328" cy="12344"/>
          </a:xfrm>
          <a:prstGeom prst="rect">
            <a:avLst/>
          </a:prstGeom>
          <a:solidFill>
            <a:srgbClr val="C3C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L2"/>
          <p:cNvSpPr/>
          <p:nvPr/>
        </p:nvSpPr>
        <p:spPr>
          <a:xfrm>
            <a:off x="768096" y="2615184"/>
            <a:ext cx="4910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0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(14.852) / 30% test (6.366) — chia phân tầng (Stratified), giữ nguyên tỉ lệ 3 lớp rủi ro</a:t>
            </a:r>
            <a:endParaRPr lang="en-US" sz="900" dirty="0"/>
          </a:p>
        </p:txBody>
      </p:sp>
      <p:sp>
        <p:nvSpPr>
          <p:cNvPr id="9" name="Text L label2"/>
          <p:cNvSpPr/>
          <p:nvPr/>
        </p:nvSpPr>
        <p:spPr>
          <a:xfrm>
            <a:off x="548640" y="331012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BENCHMARK — 4 BƯỚC</a:t>
            </a:r>
            <a:endParaRPr lang="en-US" sz="1050" dirty="0"/>
          </a:p>
        </p:txBody>
      </p:sp>
      <p:sp>
        <p:nvSpPr>
          <p:cNvPr id="10" name="Shape step"/>
          <p:cNvSpPr/>
          <p:nvPr/>
        </p:nvSpPr>
        <p:spPr>
          <a:xfrm>
            <a:off x="548640" y="3621024"/>
            <a:ext cx="1241298" cy="1115568"/>
          </a:xfrm>
          <a:prstGeom prst="roundRect">
            <a:avLst>
              <a:gd name="adj" fmla="val 45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stepnum"/>
          <p:cNvSpPr/>
          <p:nvPr/>
        </p:nvSpPr>
        <p:spPr>
          <a:xfrm>
            <a:off x="548640" y="3694176"/>
            <a:ext cx="1241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steplbl"/>
          <p:cNvSpPr/>
          <p:nvPr/>
        </p:nvSpPr>
        <p:spPr>
          <a:xfrm>
            <a:off x="621792" y="3986784"/>
            <a:ext cx="109499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</a:t>
            </a:r>
            <a:endParaRPr lang="en-US" sz="850" dirty="0"/>
          </a:p>
          <a:p>
            <a:pPr marL="0" indent="0" algn="ctr">
              <a:buNone/>
            </a:pPr>
            <a:r>
              <a:rPr lang="en-US" sz="80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800" dirty="0"/>
          </a:p>
        </p:txBody>
      </p:sp>
      <p:sp>
        <p:nvSpPr>
          <p:cNvPr id="13" name="Shape step"/>
          <p:cNvSpPr/>
          <p:nvPr/>
        </p:nvSpPr>
        <p:spPr>
          <a:xfrm>
            <a:off x="1917954" y="3621024"/>
            <a:ext cx="1241298" cy="1115568"/>
          </a:xfrm>
          <a:prstGeom prst="roundRect">
            <a:avLst>
              <a:gd name="adj" fmla="val 45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stepnum"/>
          <p:cNvSpPr/>
          <p:nvPr/>
        </p:nvSpPr>
        <p:spPr>
          <a:xfrm>
            <a:off x="1917954" y="3694176"/>
            <a:ext cx="1241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steplbl"/>
          <p:cNvSpPr/>
          <p:nvPr/>
        </p:nvSpPr>
        <p:spPr>
          <a:xfrm>
            <a:off x="1991106" y="3986784"/>
            <a:ext cx="109499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5-fold</a:t>
            </a:r>
            <a:endParaRPr lang="en-US" sz="850" dirty="0"/>
          </a:p>
          <a:p>
            <a:pPr marL="0" indent="0" algn="ctr">
              <a:buNone/>
            </a:pPr>
            <a:r>
              <a:rPr lang="en-US" sz="80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tập train</a:t>
            </a:r>
            <a:endParaRPr lang="en-US" sz="800" dirty="0"/>
          </a:p>
        </p:txBody>
      </p:sp>
      <p:sp>
        <p:nvSpPr>
          <p:cNvPr id="16" name="Shape step"/>
          <p:cNvSpPr/>
          <p:nvPr/>
        </p:nvSpPr>
        <p:spPr>
          <a:xfrm>
            <a:off x="3287268" y="3621024"/>
            <a:ext cx="1241298" cy="1115568"/>
          </a:xfrm>
          <a:prstGeom prst="roundRect">
            <a:avLst>
              <a:gd name="adj" fmla="val 45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stepnum"/>
          <p:cNvSpPr/>
          <p:nvPr/>
        </p:nvSpPr>
        <p:spPr>
          <a:xfrm>
            <a:off x="3287268" y="3694176"/>
            <a:ext cx="1241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steplbl"/>
          <p:cNvSpPr/>
          <p:nvPr/>
        </p:nvSpPr>
        <p:spPr>
          <a:xfrm>
            <a:off x="3360420" y="3986784"/>
            <a:ext cx="109499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</a:t>
            </a:r>
            <a:endParaRPr lang="en-US" sz="850" dirty="0"/>
          </a:p>
          <a:p>
            <a:pPr marL="0" indent="0" algn="ctr">
              <a:buNone/>
            </a:pPr>
            <a:r>
              <a:rPr lang="en-US" sz="80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toàn tập train</a:t>
            </a:r>
            <a:endParaRPr lang="en-US" sz="800" dirty="0"/>
          </a:p>
        </p:txBody>
      </p:sp>
      <p:sp>
        <p:nvSpPr>
          <p:cNvPr id="19" name="Shape step"/>
          <p:cNvSpPr/>
          <p:nvPr/>
        </p:nvSpPr>
        <p:spPr>
          <a:xfrm>
            <a:off x="4656582" y="3621024"/>
            <a:ext cx="1241298" cy="1115568"/>
          </a:xfrm>
          <a:prstGeom prst="roundRect">
            <a:avLst>
              <a:gd name="adj" fmla="val 45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stepnum"/>
          <p:cNvSpPr/>
          <p:nvPr/>
        </p:nvSpPr>
        <p:spPr>
          <a:xfrm>
            <a:off x="4656582" y="3694176"/>
            <a:ext cx="1241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steplbl"/>
          <p:cNvSpPr/>
          <p:nvPr/>
        </p:nvSpPr>
        <p:spPr>
          <a:xfrm>
            <a:off x="4729734" y="3986784"/>
            <a:ext cx="109499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trên test</a:t>
            </a:r>
            <a:endParaRPr lang="en-US" sz="850" dirty="0"/>
          </a:p>
          <a:p>
            <a:pPr marL="0" indent="0" algn="ctr">
              <a:buNone/>
            </a:pPr>
            <a:r>
              <a:rPr lang="en-US" sz="80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chỉ số</a:t>
            </a:r>
            <a:endParaRPr lang="en-US" sz="800" dirty="0"/>
          </a:p>
        </p:txBody>
      </p:sp>
      <p:sp>
        <p:nvSpPr>
          <p:cNvPr id="22" name="Text L note"/>
          <p:cNvSpPr/>
          <p:nvPr/>
        </p:nvSpPr>
        <p:spPr>
          <a:xfrm>
            <a:off x="548640" y="4956048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đánh giá: Accuracy, Precision, Recall, F1-Score, ROC-AUC, False Negative (FN) và FN Rate — trong đó FN Rate là chỉ số quyết định lựa chọn thuật toán triển khai.</a:t>
            </a:r>
            <a:endParaRPr lang="en-US" sz="950" dirty="0"/>
          </a:p>
        </p:txBody>
      </p:sp>
      <p:sp>
        <p:nvSpPr>
          <p:cNvPr id="23" name="Text R label"/>
          <p:cNvSpPr/>
          <p:nvPr/>
        </p:nvSpPr>
        <p:spPr>
          <a:xfrm>
            <a:off x="6172200" y="1645920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XỬ LÝ MẤT CÂN BẰNG DỮ LIỆU</a:t>
            </a:r>
            <a:endParaRPr lang="en-US" sz="1050" dirty="0"/>
          </a:p>
        </p:txBody>
      </p:sp>
      <p:sp>
        <p:nvSpPr>
          <p:cNvPr id="24" name="Shape ghost"/>
          <p:cNvSpPr/>
          <p:nvPr/>
        </p:nvSpPr>
        <p:spPr>
          <a:xfrm>
            <a:off x="6172200" y="1911096"/>
            <a:ext cx="5468112" cy="9601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icon"/>
          <p:cNvSpPr/>
          <p:nvPr/>
        </p:nvSpPr>
        <p:spPr>
          <a:xfrm>
            <a:off x="617220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glyph"/>
          <p:cNvSpPr/>
          <p:nvPr/>
        </p:nvSpPr>
        <p:spPr>
          <a:xfrm>
            <a:off x="6172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500" dirty="0"/>
          </a:p>
        </p:txBody>
      </p:sp>
      <p:sp>
        <p:nvSpPr>
          <p:cNvPr id="27" name="Text techname"/>
          <p:cNvSpPr/>
          <p:nvPr/>
        </p:nvSpPr>
        <p:spPr>
          <a:xfrm>
            <a:off x="6739128" y="1929384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 Cross Validation</a:t>
            </a:r>
            <a:endParaRPr lang="en-US" sz="1150" dirty="0"/>
          </a:p>
        </p:txBody>
      </p:sp>
      <p:sp>
        <p:nvSpPr>
          <p:cNvPr id="28" name="Text techdesc"/>
          <p:cNvSpPr/>
          <p:nvPr/>
        </p:nvSpPr>
        <p:spPr>
          <a:xfrm>
            <a:off x="6739128" y="2258568"/>
            <a:ext cx="4901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9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tỉ lệ ba lớp Safe / Warning / Danger đồng đều trong mỗi fold huấn luyện và kiểm tra (K = 5).</a:t>
            </a:r>
            <a:endParaRPr lang="en-US" sz="950" dirty="0"/>
          </a:p>
        </p:txBody>
      </p:sp>
      <p:sp>
        <p:nvSpPr>
          <p:cNvPr id="29" name="Shape ghost"/>
          <p:cNvSpPr/>
          <p:nvPr/>
        </p:nvSpPr>
        <p:spPr>
          <a:xfrm>
            <a:off x="6172200" y="3054096"/>
            <a:ext cx="5468112" cy="9601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icon"/>
          <p:cNvSpPr/>
          <p:nvPr/>
        </p:nvSpPr>
        <p:spPr>
          <a:xfrm>
            <a:off x="6172200" y="3108960"/>
            <a:ext cx="457200" cy="457200"/>
          </a:xfrm>
          <a:prstGeom prst="ellipse">
            <a:avLst/>
          </a:prstGeom>
          <a:solidFill>
            <a:srgbClr val="E8A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glyph"/>
          <p:cNvSpPr/>
          <p:nvPr/>
        </p:nvSpPr>
        <p:spPr>
          <a:xfrm>
            <a:off x="6172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0" dirty="0"/>
          </a:p>
        </p:txBody>
      </p:sp>
      <p:sp>
        <p:nvSpPr>
          <p:cNvPr id="32" name="Text techname"/>
          <p:cNvSpPr/>
          <p:nvPr/>
        </p:nvSpPr>
        <p:spPr>
          <a:xfrm>
            <a:off x="6739128" y="3072384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150" dirty="0"/>
          </a:p>
        </p:txBody>
      </p:sp>
      <p:sp>
        <p:nvSpPr>
          <p:cNvPr id="33" name="Text techdesc"/>
          <p:cNvSpPr/>
          <p:nvPr/>
        </p:nvSpPr>
        <p:spPr>
          <a:xfrm>
            <a:off x="6739128" y="3401568"/>
            <a:ext cx="4901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9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— tăng trọng số lớp thiểu số (rủi ro) trong hàm mất mát, giúp mô hình không thiên lệch về lớp đa số.</a:t>
            </a:r>
            <a:endParaRPr lang="en-US" sz="950" dirty="0"/>
          </a:p>
        </p:txBody>
      </p:sp>
      <p:sp>
        <p:nvSpPr>
          <p:cNvPr id="34" name="Shape ghost"/>
          <p:cNvSpPr/>
          <p:nvPr/>
        </p:nvSpPr>
        <p:spPr>
          <a:xfrm>
            <a:off x="6172200" y="4197096"/>
            <a:ext cx="5468112" cy="9601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icon"/>
          <p:cNvSpPr/>
          <p:nvPr/>
        </p:nvSpPr>
        <p:spPr>
          <a:xfrm>
            <a:off x="6172200" y="425196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glyph"/>
          <p:cNvSpPr/>
          <p:nvPr/>
        </p:nvSpPr>
        <p:spPr>
          <a:xfrm>
            <a:off x="61722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500" dirty="0"/>
          </a:p>
        </p:txBody>
      </p:sp>
      <p:sp>
        <p:nvSpPr>
          <p:cNvPr id="37" name="Text techname"/>
          <p:cNvSpPr/>
          <p:nvPr/>
        </p:nvSpPr>
        <p:spPr>
          <a:xfrm>
            <a:off x="6739128" y="4215384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F1-Score &amp; ROC-AUC</a:t>
            </a:r>
            <a:endParaRPr lang="en-US" sz="1150" dirty="0"/>
          </a:p>
        </p:txBody>
      </p:sp>
      <p:sp>
        <p:nvSpPr>
          <p:cNvPr id="38" name="Text techdesc"/>
          <p:cNvSpPr/>
          <p:nvPr/>
        </p:nvSpPr>
        <p:spPr>
          <a:xfrm>
            <a:off x="6739128" y="4544568"/>
            <a:ext cx="4901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950" b="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vì chỉ dùng Accuracy — vốn dễ gây hiểu lầm khi một mô hình chỉ cần luôn đoán lớp đa số cũng đạt Accuracy cao.</a:t>
            </a:r>
            <a:endParaRPr lang="en-US" sz="950" dirty="0"/>
          </a:p>
        </p:txBody>
      </p:sp>
      <p:sp>
        <p:nvSpPr>
          <p:cNvPr id="39" name="Shape R note"/>
          <p:cNvSpPr/>
          <p:nvPr/>
        </p:nvSpPr>
        <p:spPr>
          <a:xfrm>
            <a:off x="6172200" y="5486400"/>
            <a:ext cx="5468112" cy="777240"/>
          </a:xfrm>
          <a:prstGeom prst="roundRect">
            <a:avLst>
              <a:gd name="adj" fmla="val 32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R note"/>
          <p:cNvSpPr/>
          <p:nvPr/>
        </p:nvSpPr>
        <p:spPr>
          <a:xfrm>
            <a:off x="6391656" y="54864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b="1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kỹ thuật trên được áp dụng đồng thời cho cả 4 thuật toán khảo sát, đảm bảo so sánh công bằng trước khi chọn Logistic Regression.</a:t>
            </a:r>
            <a:endParaRPr lang="en-US" sz="950" dirty="0"/>
          </a:p>
        </p:txBody>
      </p:sp>
      <p:sp>
        <p:nvSpPr>
          <p:cNvPr id="41" name="Text footer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2" name="Text page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  <p:transition spd="med">
    <p:whee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· KẾT QUẢ THỰC NGHIỆM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Benchmark trên 21.218 mẫu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989320" cy="2286000"/>
        </p:xfrm>
        <a:graphic>
          <a:graphicData uri="http://schemas.openxmlformats.org/drawingml/2006/table">
            <a:tbl>
              <a:tblPr/>
              <a:tblGrid>
                <a:gridCol w="1636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Thuật toán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Rate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85,69%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74,84%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83,61%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78,98%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91,71%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16,39%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86,97%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78,86%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81,26%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80,05%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92,00%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18,74%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86,14%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77,93%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79,39%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78,65%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90,72%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20,61%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86,60%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82,34%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74,24%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78,08%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91,45%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25,76%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Rate là chỉ số quyết định: chi phí bỏ sót một sinh viên thực sự rủi ro cao hơn nhiều so với cảnh báo nhầm.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4754880"/>
            <a:ext cx="5989320" cy="11430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8646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16,39%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697480" y="486460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Rate thấp nhất trong 4 thuật toán — thuộc về Logistic Regression, thuật toán được chọn triển khai.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1228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4-5 · ĐƯỜNG CONG ROC CỦA 4 THUẬT TOÁN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12280" y="1993392"/>
            <a:ext cx="4846320" cy="3904488"/>
          </a:xfrm>
          <a:prstGeom prst="roundRect">
            <a:avLst>
              <a:gd name="adj" fmla="val 187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work/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2148840"/>
            <a:ext cx="4535424" cy="3593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  <p:sp>
        <p:nvSpPr>
          <p:cNvPr id="4" name="Text 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ransition spd="med">
    <p:whee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· KẾT QUẢ THỰC NGHIỆM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 chuyên sâu: Logistic Regression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(TẬP TEST)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51206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work/cm_logre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21408"/>
            <a:ext cx="4114800" cy="2807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1663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FA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357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5184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rủi ro được phát hiện đúng (TP)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3200400" y="51663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931920" y="5184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an toàn được nhận diện đúng (TN)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548640" y="5852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5870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hợp bỏ sót — FN thấp nhất trong 4 mô hình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3200400" y="5852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931920" y="5870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nhầm, chấp nhận được để đổi lấy FN thấp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5943600" y="1691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PRECISION · RECALL · F1-SCORE GIỮA 4 MÔ HÌNH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0" y="1993392"/>
            <a:ext cx="56692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/home/claude/work/prf1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2212848"/>
            <a:ext cx="5449824" cy="26243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43600" y="51663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có Recall cao nhất (83,61%) trong khi Precision chỉ thấp hơn không đáng kể — ưu tiên đúng hướng: thà cảnh báo dư còn hơn bỏ sót.</a:t>
            </a:r>
            <a:endParaRPr lang="en-US" sz="1080" dirty="0"/>
          </a:p>
        </p:txBody>
      </p:sp>
      <p:sp>
        <p:nvSpPr>
          <p:cNvPr id="19" name="Text 15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ransition spd="med">
    <p:whee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· KẾT QUẢ THỰC NGHIỆM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Lựa chọn thuật toán tối ưu: Logistic Regression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7282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Rate thấp nhất (16,39%)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03911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70 trường hợp bỏ sót — thấp nhất trong 4 thuật toán, giảm rủi ro bỏ lỡ sinh viên cần hỗ trợ.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52374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cao (78,98%)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8346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 bằng tốt giữa Precision (74,84%) và Recall (83,61%), đảm bảo độ tin cậy khi cảnh báo.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31927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cao (91,71%)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63016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năng phân tách hai lớp rất tốt, vượt trội SVM và XGBoost, chỉ kém nhẹ Random Forest.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548640" y="41696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11480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năng giải thích vượt trội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42569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số hồi quy cho phép tính Feature Importance — điều RF, SVM, XGBoost khó làm minh bạch.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48640" y="496519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9103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&amp; kích thước tối ưu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522122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~3KB, huấn luyện ~2 giây, dự đoán đơn lẻ dưới 1 giây — phù hợp web thời gian thực.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7086600" y="1691640"/>
            <a:ext cx="4572000" cy="4160520"/>
          </a:xfrm>
          <a:prstGeom prst="roundRect">
            <a:avLst>
              <a:gd name="adj" fmla="val 2198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60920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TRÊN HỆ THỐNG THỰC TẾ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60920" y="2377440"/>
            <a:ext cx="109728" cy="10972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8952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đơn lẻ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89520" y="2514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1.2, nợ học phí, 2 môn rớt → "Danger" với xác suất &gt;80%, phù hợp thực tế.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60920" y="3337560"/>
            <a:ext cx="109728" cy="10972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8952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hàng loạt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89520" y="34747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Predict All cho 2.799 sinh viên, cập nhật risk_level trong vòng 5 giây.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60920" y="4297680"/>
            <a:ext cx="109728" cy="10972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8952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 lại (Retrain)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348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trên dữ liệu mới, lưu version mới và cập nhật metrics thành công.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360920" y="5257800"/>
            <a:ext cx="4023360" cy="0"/>
          </a:xfrm>
          <a:prstGeom prst="line">
            <a:avLst/>
          </a:prstGeom>
          <a:noFill/>
          <a:ln w="12700">
            <a:solidFill>
              <a:srgbClr val="C7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60920" y="53949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xác nhận: mô hình hoạt động ổn định, đáp ứng độ chính xác, tốc độ và độ tin cậy yêu cầu.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ransition spd="med">
    <p:whee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· KẾT LUẬN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đạt được so với mục tiêu đề ra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 kết quả chức năng đề ra tại mục tiêu ban đầu đều đạt — đối chiếu cụ thể: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NHÓM AI &amp; THUẬT TOÁN (trọng tâm)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45720" cy="502920"/>
          </a:xfrm>
          <a:prstGeom prst="rect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36829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hiểu 4 thuật toán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26151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 đầy đủ Logistic Regression, Random Forest, SVM, XGBoost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548640" y="2953512"/>
            <a:ext cx="45720" cy="502920"/>
          </a:xfrm>
          <a:prstGeom prst="rect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9260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&amp; so sánh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3232" y="3172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21.218 mẫu, chia 70/30, Stratified K-Fold = 5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45720" cy="502920"/>
          </a:xfrm>
          <a:prstGeom prst="rect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34838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thuật toán tối ưu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" y="37307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FN Rate thấp nhất 16,39%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45720" cy="502920"/>
          </a:xfrm>
          <a:prstGeom prst="rect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40416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đạt chuẩn đề ra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3232" y="42885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85,69% · F1-Score 78,98% · ROC-AUC 91,71%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548640" y="4626864"/>
            <a:ext cx="45720" cy="502920"/>
          </a:xfrm>
          <a:prstGeom prst="rect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45994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Retrain hoạt động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3232" y="4846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version model, ghi lịch sử retrain_jobs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548640" y="5184648"/>
            <a:ext cx="45720" cy="502920"/>
          </a:xfrm>
          <a:prstGeom prst="rect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51572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hàng loạt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3232" y="54041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Predict All cho 2.799 sinh viên, cập nhật risk_level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6263640" y="1874520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46520" y="18745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HỆ THỐNG QUẢN TRỊ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2395728"/>
            <a:ext cx="457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28232" y="236829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toàn diện (CRUD)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28232" y="25968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viên, Khoa, Lớp, Học kỳ, Giảng viên, Người dùng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2903220"/>
            <a:ext cx="457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28232" y="287578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Import/Export Excel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28232" y="31043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cột tự động, báo lỗi chi tiết theo dòng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3410712"/>
            <a:ext cx="457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28232" y="33832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trực quan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28232" y="3611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Sparkline, donut chart rủi ro, Top sinh viên nguy hiểm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63640" y="3918204"/>
            <a:ext cx="457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28232" y="389077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bảo mật (JWT)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28232" y="41193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toàn quyền · Teacher xem lớp chủ nhiệm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4425696"/>
            <a:ext cx="457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28232" y="439826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Khôi phục tài khoản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28232" y="46268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mật khẩu tạm 8 ký tự, gửi qua SMTP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63640" y="4933188"/>
            <a:ext cx="457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28232" y="49057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Giảng viên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28232" y="51343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gán lớp chủ nhiệm, Import Excel hàng loạt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5440680"/>
            <a:ext cx="457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28232" y="54132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hoá model AI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28232" y="5641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lịch sử phiên bản trong ml_model_versions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8640" y="59893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77240" y="5989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tiêu chí phi chức năng cũng đạt: UI/UX tiếng Việt 100% · Hiệu năng (tải &lt;2s, AI dự đoán &lt;1s) · Bảo mật mật khẩu bằng bcrypt.</a:t>
            </a:r>
            <a:endParaRPr lang="en-US" sz="1080" dirty="0"/>
          </a:p>
        </p:txBody>
      </p:sp>
      <p:sp>
        <p:nvSpPr>
          <p:cNvPr id="50" name="Text 48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5486400" cy="5486400"/>
          </a:xfrm>
          <a:prstGeom prst="ellipse">
            <a:avLst/>
          </a:prstGeom>
          <a:ln w="15875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· KẾT LUẬN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&amp; hướng phát triển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mong đợi đã đạt được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B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85,69% · F1-Score 78,98% · ROC-AUC 91,71%. Toàn bộ module quản trị, Import/Export, Dashboard, phân quyền và Retrain đều vận hành ổn định (chi tiết ở slide trước).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411480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MỞ RỘNG VÀ PHÁT TRIỂN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0" y="2103120"/>
            <a:ext cx="3611880" cy="1133856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0" y="22128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Arena (AutoML)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97680" y="256032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A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huấn luyện song song nhiều thuật toán, chọn F1-Score cao nhất.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09560" y="2103120"/>
            <a:ext cx="3611880" cy="1133856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92440" y="22128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dữ liệu E-Learning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92440" y="256032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A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thời gian truy cập Moodle, số lần nộp bài trễ hạn.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3401568"/>
            <a:ext cx="3611880" cy="1133856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0" y="35112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297680" y="385876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A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Native, Push Notification tức thời khi sinh viên chuyển Danger.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09560" y="3401568"/>
            <a:ext cx="3611880" cy="1133856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92440" y="35112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Cloud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92440" y="385876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A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Microservices trên AWS, chịu tải hàng vạn sinh viên.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4700016"/>
            <a:ext cx="3611880" cy="1133856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0" y="480974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theo dõi sau can thiệp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297680" y="515721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A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lịch sử tư vấn, làm dữ liệu phản hồi cải thiện mô hình.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09560" y="4700016"/>
            <a:ext cx="3611880" cy="1133856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92440" y="480974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SMOTE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92440" y="515721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A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thử nghiệm oversampling cho các nghiên cứu tiếp theo.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thank you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ring1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noFill/>
          <a:ln w="15875">
            <a:solidFill>
              <a:srgbClr val="1C729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ring2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noFill/>
          <a:ln w="15875">
            <a:solidFill>
              <a:srgbClr val="5FA8B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ring3"/>
          <p:cNvSpPr/>
          <p:nvPr/>
        </p:nvSpPr>
        <p:spPr>
          <a:xfrm>
            <a:off x="10607040" y="5120640"/>
            <a:ext cx="2286000" cy="2286000"/>
          </a:xfrm>
          <a:prstGeom prst="ellipse">
            <a:avLst/>
          </a:prstGeom>
          <a:noFill/>
          <a:ln w="15875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eyebrow"/>
          <p:cNvSpPr/>
          <p:nvPr/>
        </p:nvSpPr>
        <p:spPr>
          <a:xfrm>
            <a:off x="0" y="19659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CÔNG NGHỆ SÀI GÒN  •  KHOA CÔNG NGHỆ THÔNG TIN</a:t>
            </a:r>
            <a:endParaRPr lang="en-US" sz="1100" dirty="0"/>
          </a:p>
        </p:txBody>
      </p:sp>
      <p:sp>
        <p:nvSpPr>
          <p:cNvPr id="6" name="Text heading"/>
          <p:cNvSpPr/>
          <p:nvPr/>
        </p:nvSpPr>
        <p:spPr>
          <a:xfrm>
            <a:off x="0" y="25146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Xin cảm ơn!</a:t>
            </a:r>
            <a:endParaRPr lang="en-US" sz="4400" dirty="0"/>
          </a:p>
        </p:txBody>
      </p:sp>
      <p:sp>
        <p:nvSpPr>
          <p:cNvPr id="7" name="Text subtitle"/>
          <p:cNvSpPr/>
          <p:nvPr/>
        </p:nvSpPr>
        <p:spPr>
          <a:xfrm>
            <a:off x="1522476" y="3611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b="0" i="1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 cô Hội đồng đã lắng nghe và rất mong nhận được sự góp ý từ thầy cô.</a:t>
            </a:r>
            <a:endParaRPr lang="en-US" sz="1500" dirty="0"/>
          </a:p>
        </p:txBody>
      </p:sp>
      <p:sp>
        <p:nvSpPr>
          <p:cNvPr id="11" name="Text page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kern="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3206</Words>
  <Application>Microsoft Office PowerPoint</Application>
  <PresentationFormat>Widescreen</PresentationFormat>
  <Paragraphs>450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Tuan Vo</cp:lastModifiedBy>
  <cp:revision>3</cp:revision>
  <dcterms:created xsi:type="dcterms:W3CDTF">2026-08-07T04:45:55Z</dcterms:created>
  <dcterms:modified xsi:type="dcterms:W3CDTF">2026-08-09T11:41:38Z</dcterms:modified>
</cp:coreProperties>
</file>